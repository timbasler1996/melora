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457200" y="274320"/>
            <a:ext cx="8229600" cy="457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097280"/>
            <a:ext cx="1645920" cy="1645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1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MELORA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People Through Music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Pitch Deck  |  2026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457200" y="4572000"/>
            <a:ext cx="822960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400800" y="274320"/>
            <a:ext cx="256032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572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1188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connected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no one talks to each other.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774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headphone bubble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234440" y="2578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290M+ Spotify Premium users walk around cities in their own world.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is on Tinder and Raya — but it's an afterthought, not a trigger.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loneliness epidemic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234440" y="34015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Gen Z felt lonely in the past year. The most digitally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generation ever — yet meaningful connections are declining.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2336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breaks the ice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234440" y="4224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crave authentic connections but lack a natural starter.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taste is the strongest compatibility signal — yet invisible.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73152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Spotify Q4 2025 (Billboard), Cigna Loneliness in America 2025, GWI Gen Z Research 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Melora turns your music into a social signal.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C1C2E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2240280"/>
            <a:ext cx="822960" cy="822960"/>
          </a:xfrm>
          <a:prstGeom prst="ellipse">
            <a:avLst/>
          </a:prstGeom>
          <a:solidFill>
            <a:srgbClr val="2525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you're listening to on Spotify in real-time with people nearby.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66160" y="19659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C1C2E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2240280"/>
            <a:ext cx="822960" cy="822960"/>
          </a:xfrm>
          <a:prstGeom prst="ellipse">
            <a:avLst/>
          </a:prstGeom>
          <a:solidFill>
            <a:srgbClr val="25254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423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79476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people around you through the music they're playing right now.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19659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1C1C2E"/>
          </a:solidFill>
          <a:ln/>
        </p:spPr>
      </p:sp>
      <p:sp>
        <p:nvSpPr>
          <p:cNvPr id="16" name="Shape 12"/>
          <p:cNvSpPr/>
          <p:nvPr/>
        </p:nvSpPr>
        <p:spPr>
          <a:xfrm>
            <a:off x="7269480" y="2240280"/>
            <a:ext cx="822960" cy="822960"/>
          </a:xfrm>
          <a:prstGeom prst="ellipse">
            <a:avLst/>
          </a:prstGeom>
          <a:solidFill>
            <a:srgbClr val="25254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423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6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62940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track, start a conversation, build genuine connections through music.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400800" y="731520"/>
            <a:ext cx="22860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1C1C2E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87552" y="1965960"/>
            <a:ext cx="27432" cy="27432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1399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Spotify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OAuth links your Spotify account.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444752"/>
            <a:ext cx="411480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1C1C2E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987552" y="2834640"/>
            <a:ext cx="27432" cy="27432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4" name="Text 10"/>
          <p:cNvSpPr/>
          <p:nvPr/>
        </p:nvSpPr>
        <p:spPr>
          <a:xfrm>
            <a:off x="1554480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5448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broadcasting — your track becomes visible nearby.</a:t>
            </a:r>
            <a:endParaRPr lang="en-US" sz="11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313432"/>
            <a:ext cx="411480" cy="4114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1C1C2E"/>
          </a:solidFill>
          <a:ln/>
        </p:spPr>
      </p:sp>
      <p:sp>
        <p:nvSpPr>
          <p:cNvPr id="18" name="Text 13"/>
          <p:cNvSpPr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987552" y="3703320"/>
            <a:ext cx="27432" cy="27432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0" name="Text 15"/>
          <p:cNvSpPr/>
          <p:nvPr/>
        </p:nvSpPr>
        <p:spPr>
          <a:xfrm>
            <a:off x="1554480" y="3136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People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55448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through people nearby, sorted by distance.</a:t>
            </a:r>
            <a:endParaRPr lang="en-US" sz="11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182112"/>
            <a:ext cx="411480" cy="4114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C1C2E"/>
          </a:solidFill>
          <a:ln/>
        </p:spPr>
      </p:sp>
      <p:sp>
        <p:nvSpPr>
          <p:cNvPr id="24" name="Text 18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55448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&amp; Connect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55448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track, match, start chatting about music.</a:t>
            </a:r>
            <a:endParaRPr lang="en-US" sz="11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4050792"/>
            <a:ext cx="411480" cy="411480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846320"/>
            <a:ext cx="9144" cy="91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C1C2E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55448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5A45E6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$35B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music streaming ($25B)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dating/social discovery ($11B)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C1C2E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55448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74904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Music-social apps in EN/DE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markets, 18-35 yr olds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1C1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55448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26C9E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554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1965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$45M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58368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SAM — urban Gen Z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users in 10 launch cities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290M+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152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Premium subs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Billboard, Q4 2025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3464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83464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felt lonely past yr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 2025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93776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$11B+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3776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 market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NextMSC 2025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04088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3hrs+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04088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daily music listening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Now? Why Us?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Players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1C1C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739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Tinder / Bumble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75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Photo-first. Music is an afterthought.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1C1C2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682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Social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5694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no location, no social feed.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1C1C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626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AirBuds / Jams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16382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only. No stranger discovery.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Melora's Edge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73936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120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music broadcasting as core interaction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57984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12080" y="2121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discovery of strangers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542032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2505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taste as primary matching signal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92608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28895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premium UX (Hinge meets Spotify)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10128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12080" y="3273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Spotify API — zero cold-start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31520" y="388620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C1C2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02336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508760" y="39502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Timing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1508760" y="422452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hit 290M premium subs (Billboard Q4 2025). 80% of Gen Z report loneliness (GWI). Location APIs are mature. The infrastructure exists — someone just needs to connect the dots.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C1C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experience, zero paywall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22576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86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your current track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34056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97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people nearby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145536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108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tracks &amp; send messages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557016"/>
            <a:ext cx="210312" cy="210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&amp; chat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754880" y="137160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C1C2E"/>
          </a:solidFill>
          <a:ln/>
        </p:spPr>
      </p:sp>
      <p:sp>
        <p:nvSpPr>
          <p:cNvPr id="16" name="Shape 10"/>
          <p:cNvSpPr/>
          <p:nvPr/>
        </p:nvSpPr>
        <p:spPr>
          <a:xfrm>
            <a:off x="4754880" y="1371600"/>
            <a:ext cx="3657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1"/>
          <p:cNvSpPr/>
          <p:nvPr/>
        </p:nvSpPr>
        <p:spPr>
          <a:xfrm>
            <a:off x="47548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Melora+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475488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 / month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322576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6400" y="2286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Mode — spawn in any city</a:t>
            </a:r>
            <a:endParaRPr lang="en-US" sz="12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2734056"/>
            <a:ext cx="210312" cy="2103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86400" y="2697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broadcast range</a:t>
            </a:r>
            <a:endParaRPr lang="en-US" sz="12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145536"/>
            <a:ext cx="210312" cy="21031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86400" y="3108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listing in discover</a:t>
            </a:r>
            <a:endParaRPr lang="en-US" sz="12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3557016"/>
            <a:ext cx="210312" cy="21031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486400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liked your track</a:t>
            </a:r>
            <a:endParaRPr lang="en-US" sz="1250" dirty="0"/>
          </a:p>
        </p:txBody>
      </p:sp>
      <p:sp>
        <p:nvSpPr>
          <p:cNvPr id="27" name="Shape 17"/>
          <p:cNvSpPr/>
          <p:nvPr/>
        </p:nvSpPr>
        <p:spPr>
          <a:xfrm>
            <a:off x="731520" y="4297680"/>
            <a:ext cx="7680960" cy="594360"/>
          </a:xfrm>
          <a:prstGeom prst="roundRect">
            <a:avLst>
              <a:gd name="adj" fmla="val 9231"/>
            </a:avLst>
          </a:prstGeom>
          <a:solidFill>
            <a:srgbClr val="1C1C2E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4407408"/>
            <a:ext cx="292608" cy="29260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417320" y="43251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value: users &amp; data. Rich music-taste and location-based social graphs — highly valuable for streaming platforms, labels, and social networks. Long-term play: strategic acquisition or data licensing.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C1C2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56032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Launch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860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at 3-5 university campuses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7296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music societies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6732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1,000 active broadcasters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56616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C1C2E"/>
          </a:solidFill>
          <a:ln/>
        </p:spPr>
      </p:sp>
      <p:sp>
        <p:nvSpPr>
          <p:cNvPr id="16" name="Shape 11"/>
          <p:cNvSpPr/>
          <p:nvPr/>
        </p:nvSpPr>
        <p:spPr>
          <a:xfrm>
            <a:off x="3566160" y="1371600"/>
            <a:ext cx="2560320" cy="45720"/>
          </a:xfrm>
          <a:prstGeom prst="rect">
            <a:avLst/>
          </a:prstGeom>
          <a:solidFill>
            <a:srgbClr val="26C9E0"/>
          </a:solidFill>
          <a:ln/>
        </p:spPr>
      </p:sp>
      <p:sp>
        <p:nvSpPr>
          <p:cNvPr id="17" name="Text 12"/>
          <p:cNvSpPr/>
          <p:nvPr/>
        </p:nvSpPr>
        <p:spPr>
          <a:xfrm>
            <a:off x="374904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74904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Expansion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74904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Q2-Q3 2027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57860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2336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Nightlife districts &amp; festivals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17296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2336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partnerships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767328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02336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10,000 MAU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40080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C1C2E"/>
          </a:solidFill>
          <a:ln/>
        </p:spPr>
      </p:sp>
      <p:sp>
        <p:nvSpPr>
          <p:cNvPr id="27" name="Shape 19"/>
          <p:cNvSpPr/>
          <p:nvPr/>
        </p:nvSpPr>
        <p:spPr>
          <a:xfrm>
            <a:off x="6400800" y="1371600"/>
            <a:ext cx="2560320" cy="45720"/>
          </a:xfrm>
          <a:prstGeom prst="rect">
            <a:avLst/>
          </a:prstGeom>
          <a:solidFill>
            <a:srgbClr val="5A45E6"/>
          </a:solidFill>
          <a:ln/>
        </p:spPr>
      </p:sp>
      <p:sp>
        <p:nvSpPr>
          <p:cNvPr id="28" name="Text 20"/>
          <p:cNvSpPr/>
          <p:nvPr/>
        </p:nvSpPr>
        <p:spPr>
          <a:xfrm>
            <a:off x="658368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4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658368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Monetize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658368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2027+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2578608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85800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Melora+ premium</a:t>
            </a:r>
            <a:endParaRPr lang="en-US" sz="11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172968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5800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5+ cities</a:t>
            </a:r>
            <a:endParaRPr lang="en-US" sz="11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3767328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85800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50K MAU, first revenue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7132320" cy="2743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5" name="Shape 3"/>
          <p:cNvSpPr/>
          <p:nvPr/>
        </p:nvSpPr>
        <p:spPr>
          <a:xfrm>
            <a:off x="1426464" y="1444752"/>
            <a:ext cx="256032" cy="256032"/>
          </a:xfrm>
          <a:prstGeom prst="ellipse">
            <a:avLst/>
          </a:prstGeom>
          <a:solidFill>
            <a:srgbClr val="1ACC6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1C1C2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integration done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broadcasting engine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discovery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&amp; messaging MVP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38144" y="1444752"/>
            <a:ext cx="256032" cy="256032"/>
          </a:xfrm>
          <a:prstGeom prst="ellipse">
            <a:avLst/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651760" y="237744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1C1C2E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 &amp; iteration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8892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8892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optimization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8892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preparation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49824" y="1444752"/>
            <a:ext cx="256032" cy="256032"/>
          </a:xfrm>
          <a:prstGeom prst="ellipse">
            <a:avLst/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237744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1C1C2E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App Store launch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launch (3-5 unis)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1,000 active users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61504" y="1444752"/>
            <a:ext cx="256032" cy="256032"/>
          </a:xfrm>
          <a:prstGeom prst="ellipse">
            <a:avLst/>
          </a:prstGeom>
          <a:solidFill>
            <a:srgbClr val="25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4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Q2+ 2027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675120" y="237744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1C1C2E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expansion (5+ cities)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1228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Melora+ subscription launch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1228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Music support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1228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&amp; partnerships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€100,000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10% equity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1C1C2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32461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4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polish, Android, backend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697480" y="310896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1C1C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32461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8892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278892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88920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launches, events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46320" y="310896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1C1C2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32461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3776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C9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493776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€20K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937760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Infra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Firebase, API, legal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995160" y="310896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1C1C2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324612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3749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C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7086600" y="4041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€10K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086600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&amp; Runway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Emergency, 12-mo extension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1371600" y="73152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MELORA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45720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Music Meets People</a:t>
            </a:r>
            <a:endParaRPr lang="en-US" sz="20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57200" y="3474720"/>
            <a:ext cx="4572000" cy="320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Basler  |  baslertim@gmail.com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 people through the music they love.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57200" y="4800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visuals — replace with photos from unsplash.com (free license)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Melora - Pitch Deck</dc:title>
  <dc:subject>PptxGenJS Presentation</dc:subject>
  <dc:creator>Tim Basler</dc:creator>
  <cp:lastModifiedBy>Tim Basler</cp:lastModifiedBy>
  <cp:revision>1</cp:revision>
  <dcterms:created xsi:type="dcterms:W3CDTF">2026-03-04T16:31:10Z</dcterms:created>
  <dcterms:modified xsi:type="dcterms:W3CDTF">2026-03-04T16:31:10Z</dcterms:modified>
</cp:coreProperties>
</file>